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1" r:id="rId18"/>
    <p:sldId id="276" r:id="rId19"/>
    <p:sldId id="277" r:id="rId20"/>
    <p:sldId id="273" r:id="rId21"/>
    <p:sldId id="274" r:id="rId22"/>
    <p:sldId id="275" r:id="rId23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 snapToGrid="0">
      <p:cViewPr varScale="1">
        <p:scale>
          <a:sx n="64" d="100"/>
          <a:sy n="64" d="100"/>
        </p:scale>
        <p:origin x="97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AD9D32E-16BF-48C7-A5F0-EE247DCD2BC6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0F42E5B-4345-49EA-BB9F-FD9697BC8EF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94420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0F42E5B-4345-49EA-BB9F-FD9697BC8EFE}" type="slidenum">
              <a:rPr lang="ru-RU" smtClean="0"/>
              <a:t>9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212711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D4CDACF-D992-FAA6-0CEA-8EC2AE77E8E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DF0C804C-0CB0-6DC3-44A3-1D53CCB1525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ADDA3FF-48CA-404D-148E-F994CF28D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21623137-59C9-2E03-8AE8-374E1CF2E4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E919576-57C2-A8F1-E082-FEDA4EA0CD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058163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9984692-93D8-4FD4-1844-297976848C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1B7B3E0-8ADA-2C5B-DAFE-A55A4F6A81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F63423E7-DFEE-8BEF-93C0-273DADE6FE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F82ACF6-18FF-2C9E-E8E8-7C532F865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0C00C499-2A6D-44FD-7D8F-2244787FA3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615272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B05B113-92B8-B9C0-856B-7853D89DB1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147D781-1B87-85BF-95E0-0A556CBEDB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19B25C54-3BFB-0E12-3549-85600C94F8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EEC844EA-59F6-5469-8B94-9205D24427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27D07DE4-6B60-2213-3AA8-FBE0B10CA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933571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FFB402E-57A5-FAFE-91B6-8FDCDE897CA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110072A-2350-7193-9C86-2C1C17272E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56085D57-6BD3-5EF5-5D79-2E7BF178BCD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C781D08B-0F0D-5902-F7D7-D1DD8A458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7C9B882A-2F96-D5D8-44DD-4B8D0783F6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A08DA866-8E9E-401B-1851-E7D0C8EF3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90315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B5D9F0B-6C80-4832-7030-8B5B971139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C643983D-93AB-38F8-D7BC-F84904C141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F8573A13-D441-DE6A-3BEC-427882942F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>
            <a:extLst>
              <a:ext uri="{FF2B5EF4-FFF2-40B4-BE49-F238E27FC236}">
                <a16:creationId xmlns:a16="http://schemas.microsoft.com/office/drawing/2014/main" id="{E4B20460-CB9E-78FB-F60D-47589F1E9C1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>
            <a:extLst>
              <a:ext uri="{FF2B5EF4-FFF2-40B4-BE49-F238E27FC236}">
                <a16:creationId xmlns:a16="http://schemas.microsoft.com/office/drawing/2014/main" id="{241CC82A-D735-BD83-0F6D-7B6B2E29876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>
            <a:extLst>
              <a:ext uri="{FF2B5EF4-FFF2-40B4-BE49-F238E27FC236}">
                <a16:creationId xmlns:a16="http://schemas.microsoft.com/office/drawing/2014/main" id="{E28BBA89-1308-FB20-2972-B0E7552817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8" name="Нижний колонтитул 7">
            <a:extLst>
              <a:ext uri="{FF2B5EF4-FFF2-40B4-BE49-F238E27FC236}">
                <a16:creationId xmlns:a16="http://schemas.microsoft.com/office/drawing/2014/main" id="{25FF0D29-2EA2-EF6E-59E6-62313DE3F7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>
            <a:extLst>
              <a:ext uri="{FF2B5EF4-FFF2-40B4-BE49-F238E27FC236}">
                <a16:creationId xmlns:a16="http://schemas.microsoft.com/office/drawing/2014/main" id="{537CA33B-D87B-E0E1-CE53-947071D6D8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4012306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A64E25E-CDC8-14B1-8F33-0F70B0FA07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>
            <a:extLst>
              <a:ext uri="{FF2B5EF4-FFF2-40B4-BE49-F238E27FC236}">
                <a16:creationId xmlns:a16="http://schemas.microsoft.com/office/drawing/2014/main" id="{ABEA157D-3951-1D52-BDDF-A60D964FB3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4" name="Нижний колонтитул 3">
            <a:extLst>
              <a:ext uri="{FF2B5EF4-FFF2-40B4-BE49-F238E27FC236}">
                <a16:creationId xmlns:a16="http://schemas.microsoft.com/office/drawing/2014/main" id="{6751566E-AB07-CBEA-EF93-80EE431AA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>
            <a:extLst>
              <a:ext uri="{FF2B5EF4-FFF2-40B4-BE49-F238E27FC236}">
                <a16:creationId xmlns:a16="http://schemas.microsoft.com/office/drawing/2014/main" id="{8FB49FA3-A38D-A13B-A882-ED85C15BF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801815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>
            <a:extLst>
              <a:ext uri="{FF2B5EF4-FFF2-40B4-BE49-F238E27FC236}">
                <a16:creationId xmlns:a16="http://schemas.microsoft.com/office/drawing/2014/main" id="{448A12DC-6C79-DF5B-9504-C77134A626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3" name="Нижний колонтитул 2">
            <a:extLst>
              <a:ext uri="{FF2B5EF4-FFF2-40B4-BE49-F238E27FC236}">
                <a16:creationId xmlns:a16="http://schemas.microsoft.com/office/drawing/2014/main" id="{81D94C93-7EB2-AED6-11E2-B1F0898ACB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9208D381-0EC7-1AEE-376B-C08B239B4A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318310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08058CE-8837-CBEF-C8A0-940C6F08FB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2EAFD3F-E173-67D1-F294-6FFE4C8ECE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E6D3DD99-1EE3-919C-C787-CA00547EF2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A89C8945-BA9A-ED91-4CAE-6B2B94B3E5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044408FF-FE29-5212-C6FC-7106B5139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9A4489A0-D31F-6A8E-4473-1D541471FC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378836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9D15BB37-E93B-04E3-6058-D0B477ECA6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>
            <a:extLst>
              <a:ext uri="{FF2B5EF4-FFF2-40B4-BE49-F238E27FC236}">
                <a16:creationId xmlns:a16="http://schemas.microsoft.com/office/drawing/2014/main" id="{7E18B415-260E-2CCA-AD0E-F873694FA9D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>
            <a:extLst>
              <a:ext uri="{FF2B5EF4-FFF2-40B4-BE49-F238E27FC236}">
                <a16:creationId xmlns:a16="http://schemas.microsoft.com/office/drawing/2014/main" id="{47D5E853-D5FC-EBA4-D906-EC79353656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>
            <a:extLst>
              <a:ext uri="{FF2B5EF4-FFF2-40B4-BE49-F238E27FC236}">
                <a16:creationId xmlns:a16="http://schemas.microsoft.com/office/drawing/2014/main" id="{E983AAFF-A31E-5FA4-7975-BD21FBC9E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6" name="Нижний колонтитул 5">
            <a:extLst>
              <a:ext uri="{FF2B5EF4-FFF2-40B4-BE49-F238E27FC236}">
                <a16:creationId xmlns:a16="http://schemas.microsoft.com/office/drawing/2014/main" id="{EAE3FD66-151B-C15D-9AF1-C5414CDAD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>
            <a:extLst>
              <a:ext uri="{FF2B5EF4-FFF2-40B4-BE49-F238E27FC236}">
                <a16:creationId xmlns:a16="http://schemas.microsoft.com/office/drawing/2014/main" id="{2C8F881F-EA90-D1C1-3960-FBE31B058C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9153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1E03CEA-C7FD-2922-3A99-26FF16F931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315B4DD3-E17A-C329-FE28-E7E4F1CCD12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319CFBF-F16B-EDAE-E77F-7674FFAB0D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B7BDE90B-8975-C4D0-3E80-6A541CA05B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762E84A6-BFF3-6604-1197-98A2C621C7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48401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>
            <a:extLst>
              <a:ext uri="{FF2B5EF4-FFF2-40B4-BE49-F238E27FC236}">
                <a16:creationId xmlns:a16="http://schemas.microsoft.com/office/drawing/2014/main" id="{ED2016F9-51B6-3A6C-5243-05A110F28DB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>
            <a:extLst>
              <a:ext uri="{FF2B5EF4-FFF2-40B4-BE49-F238E27FC236}">
                <a16:creationId xmlns:a16="http://schemas.microsoft.com/office/drawing/2014/main" id="{CFD9659C-8E8B-7DF9-967A-01EAD8EDD4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A59CCD5A-9BF3-0A3C-AEF7-60685CE1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6E4022C4-1527-4FC7-5136-F2F57A1973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326BB12B-5592-5B28-51B6-47003D3333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5823204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A23B914-67B7-3C2F-6E2D-B6D8F51F2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85C8CF66-EE21-A38A-BBEE-AD3A126E0DD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>
            <a:extLst>
              <a:ext uri="{FF2B5EF4-FFF2-40B4-BE49-F238E27FC236}">
                <a16:creationId xmlns:a16="http://schemas.microsoft.com/office/drawing/2014/main" id="{0161E99F-38DA-7CA5-933E-231DFD9B27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EE6235-C589-41FD-B19E-4585E9470BA1}" type="datetimeFigureOut">
              <a:rPr lang="ru-RU" smtClean="0"/>
              <a:t>18.09.2025</a:t>
            </a:fld>
            <a:endParaRPr lang="ru-RU"/>
          </a:p>
        </p:txBody>
      </p:sp>
      <p:sp>
        <p:nvSpPr>
          <p:cNvPr id="5" name="Нижний колонтитул 4">
            <a:extLst>
              <a:ext uri="{FF2B5EF4-FFF2-40B4-BE49-F238E27FC236}">
                <a16:creationId xmlns:a16="http://schemas.microsoft.com/office/drawing/2014/main" id="{C69D401D-5032-43E3-BDB3-A21D1C011C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>
            <a:extLst>
              <a:ext uri="{FF2B5EF4-FFF2-40B4-BE49-F238E27FC236}">
                <a16:creationId xmlns:a16="http://schemas.microsoft.com/office/drawing/2014/main" id="{F0047722-3F2F-1056-99B3-C4FB947ACC0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5EEF44D-BA1F-47C3-B45A-05C27377D129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354449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png"/><Relationship Id="rId4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E65DEB2-CDA5-A75C-28C3-31ED0AC336C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Наследование в </a:t>
            </a:r>
            <a:r>
              <a:rPr lang="en-US" dirty="0"/>
              <a:t>Python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E08812B-B207-E425-04F2-CA2062983A21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3373812" y="4033397"/>
            <a:ext cx="5444376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800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Пишем код умнее, а не больше</a:t>
            </a:r>
          </a:p>
        </p:txBody>
      </p:sp>
      <p:cxnSp>
        <p:nvCxnSpPr>
          <p:cNvPr id="7" name="Прямая соединительная линия 6">
            <a:extLst>
              <a:ext uri="{FF2B5EF4-FFF2-40B4-BE49-F238E27FC236}">
                <a16:creationId xmlns:a16="http://schemas.microsoft.com/office/drawing/2014/main" id="{68DD00D2-2107-6339-FE91-874D5DF764D9}"/>
              </a:ext>
            </a:extLst>
          </p:cNvPr>
          <p:cNvCxnSpPr/>
          <p:nvPr/>
        </p:nvCxnSpPr>
        <p:spPr>
          <a:xfrm>
            <a:off x="1524000" y="3747541"/>
            <a:ext cx="9144000" cy="0"/>
          </a:xfrm>
          <a:prstGeom prst="line">
            <a:avLst/>
          </a:prstGeom>
          <a:ln w="1270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432923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5DBDB5-1CCC-E3F6-B00F-8CF81892F6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Что мы сегодня узнаем?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59FA22C-B9A1-4BB2-6D74-80B62EC80DFC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65792"/>
            <a:ext cx="7458645" cy="367100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такое наследование? </a:t>
            </a:r>
            <a:endParaRPr kumimoji="0" lang="en-US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Ключевые понятия: Суперкласс и Подкласс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Как переопределить и расширить методы </a:t>
            </a:r>
            <a:r>
              <a:rPr kumimoji="0" lang="ru-RU" altLang="ru-RU" sz="240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super</a:t>
            </a: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()</a:t>
            </a:r>
            <a:endParaRPr kumimoji="0" lang="ru-RU" altLang="ru-RU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Практическое задание</a:t>
            </a:r>
          </a:p>
          <a:p>
            <a:pPr marR="0" lvl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tabLst/>
            </a:pPr>
            <a:r>
              <a:rPr kumimoji="0" lang="ru-RU" altLang="ru-RU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Что дальше? Краткий взгляд на полиморфизм</a:t>
            </a:r>
          </a:p>
        </p:txBody>
      </p:sp>
    </p:spTree>
    <p:extLst>
      <p:ext uri="{BB962C8B-B14F-4D97-AF65-F5344CB8AC3E}">
        <p14:creationId xmlns:p14="http://schemas.microsoft.com/office/powerpoint/2010/main" val="14168985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4D9C822-167F-7F17-0F29-6B0EFE47E9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Проблема: Повторяющийся код 😫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7DD4AEF-AAAC-D235-F6F1-BA0193C2F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Представьте, что мы пишем код для автосалона...</a:t>
            </a:r>
          </a:p>
        </p:txBody>
      </p:sp>
      <p:pic>
        <p:nvPicPr>
          <p:cNvPr id="3074" name="Picture 2" descr="Picture background">
            <a:extLst>
              <a:ext uri="{FF2B5EF4-FFF2-40B4-BE49-F238E27FC236}">
                <a16:creationId xmlns:a16="http://schemas.microsoft.com/office/drawing/2014/main" id="{D4353542-8B4F-5318-91E7-3F781F15A4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838200" y="2990460"/>
            <a:ext cx="2708792" cy="146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8" name="Picture 6" descr="Picture background">
            <a:extLst>
              <a:ext uri="{FF2B5EF4-FFF2-40B4-BE49-F238E27FC236}">
                <a16:creationId xmlns:a16="http://schemas.microsoft.com/office/drawing/2014/main" id="{3D4B829A-4361-2853-83D6-48F9358E687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732738" y="2626288"/>
            <a:ext cx="3030199" cy="199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8BB0217-FE83-44B5-9F20-26203CA11911}"/>
              </a:ext>
            </a:extLst>
          </p:cNvPr>
          <p:cNvSpPr txBox="1"/>
          <p:nvPr/>
        </p:nvSpPr>
        <p:spPr>
          <a:xfrm>
            <a:off x="1022327" y="4924416"/>
            <a:ext cx="25246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start_engine</a:t>
            </a:r>
            <a:r>
              <a:rPr lang="en-US" sz="2800" dirty="0"/>
              <a:t>()</a:t>
            </a:r>
            <a:endParaRPr lang="ru-RU" sz="28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4A857C4-06C0-6AF0-EDD4-22C8BBC05D90}"/>
              </a:ext>
            </a:extLst>
          </p:cNvPr>
          <p:cNvSpPr txBox="1"/>
          <p:nvPr/>
        </p:nvSpPr>
        <p:spPr>
          <a:xfrm>
            <a:off x="7732738" y="4791968"/>
            <a:ext cx="2524665" cy="138499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/>
              <a:t>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dirty="0" err="1"/>
              <a:t>start_engine</a:t>
            </a:r>
            <a:r>
              <a:rPr lang="en-US" sz="2800" dirty="0"/>
              <a:t>()</a:t>
            </a:r>
            <a:endParaRPr lang="ru-RU" sz="2800" dirty="0"/>
          </a:p>
        </p:txBody>
      </p:sp>
    </p:spTree>
    <p:extLst>
      <p:ext uri="{BB962C8B-B14F-4D97-AF65-F5344CB8AC3E}">
        <p14:creationId xmlns:p14="http://schemas.microsoft.com/office/powerpoint/2010/main" val="47738825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54F8391-54AA-A710-11CF-F9D967D8F5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Решение: Наследование! 💡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4E124AA-9813-8EC9-74B7-825244924F8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1487201"/>
          </a:xfrm>
        </p:spPr>
        <p:txBody>
          <a:bodyPr/>
          <a:lstStyle/>
          <a:p>
            <a:r>
              <a:rPr lang="ru-RU" dirty="0"/>
              <a:t>Принцип </a:t>
            </a:r>
            <a:r>
              <a:rPr lang="en-US" dirty="0"/>
              <a:t>DRY: Don't Repeat Yourself (</a:t>
            </a:r>
            <a:r>
              <a:rPr lang="ru-RU" dirty="0"/>
              <a:t>Не повторяйся)</a:t>
            </a:r>
            <a:endParaRPr lang="en-US" dirty="0"/>
          </a:p>
          <a:p>
            <a:r>
              <a:rPr lang="ru-RU" dirty="0"/>
              <a:t>"Как в жизни: дети наследуют черты от родителей, но имеют и свои уникальные особенности." 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806532A2-30BC-6850-A502-1B0A2B2E2839}"/>
              </a:ext>
            </a:extLst>
          </p:cNvPr>
          <p:cNvSpPr/>
          <p:nvPr/>
        </p:nvSpPr>
        <p:spPr>
          <a:xfrm>
            <a:off x="838200" y="3747541"/>
            <a:ext cx="2263515" cy="899410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ru-RU" sz="3200" dirty="0"/>
              <a:t>Транспорт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4442BB-B10F-5E30-1F8E-8E9D00F0D11B}"/>
              </a:ext>
            </a:extLst>
          </p:cNvPr>
          <p:cNvSpPr txBox="1"/>
          <p:nvPr/>
        </p:nvSpPr>
        <p:spPr>
          <a:xfrm>
            <a:off x="963117" y="5081666"/>
            <a:ext cx="282939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brand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/>
              <a:t>year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400" dirty="0" err="1"/>
              <a:t>start_engine</a:t>
            </a:r>
            <a:r>
              <a:rPr lang="en-US" sz="2400" dirty="0"/>
              <a:t>()</a:t>
            </a:r>
            <a:endParaRPr lang="ru-RU" sz="2400" dirty="0"/>
          </a:p>
        </p:txBody>
      </p:sp>
      <p:pic>
        <p:nvPicPr>
          <p:cNvPr id="9" name="Picture 2" descr="Picture background">
            <a:extLst>
              <a:ext uri="{FF2B5EF4-FFF2-40B4-BE49-F238E27FC236}">
                <a16:creationId xmlns:a16="http://schemas.microsoft.com/office/drawing/2014/main" id="{DC5F6D82-205C-CC94-D0C2-35D88FB63F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401409" y="3621959"/>
            <a:ext cx="2132336" cy="11505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6" descr="Picture background">
            <a:extLst>
              <a:ext uri="{FF2B5EF4-FFF2-40B4-BE49-F238E27FC236}">
                <a16:creationId xmlns:a16="http://schemas.microsoft.com/office/drawing/2014/main" id="{52725A91-4F92-49F3-881F-D1788F1A1D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337724" y="5005674"/>
            <a:ext cx="2259706" cy="14872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4" name="Соединитель: уступ 13">
            <a:extLst>
              <a:ext uri="{FF2B5EF4-FFF2-40B4-BE49-F238E27FC236}">
                <a16:creationId xmlns:a16="http://schemas.microsoft.com/office/drawing/2014/main" id="{9E609148-CBD9-62AE-97A2-851C6EF97EC5}"/>
              </a:ext>
            </a:extLst>
          </p:cNvPr>
          <p:cNvCxnSpPr>
            <a:stCxn id="6" idx="3"/>
            <a:endCxn id="10" idx="3"/>
          </p:cNvCxnSpPr>
          <p:nvPr/>
        </p:nvCxnSpPr>
        <p:spPr>
          <a:xfrm>
            <a:off x="3101715" y="4197246"/>
            <a:ext cx="4236009" cy="1552029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B63865D-7329-A58D-7445-12FC3E2B8F80}"/>
              </a:ext>
            </a:extLst>
          </p:cNvPr>
          <p:cNvCxnSpPr>
            <a:stCxn id="6" idx="3"/>
          </p:cNvCxnSpPr>
          <p:nvPr/>
        </p:nvCxnSpPr>
        <p:spPr>
          <a:xfrm>
            <a:off x="3101715" y="4197246"/>
            <a:ext cx="416851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01618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Picture background">
            <a:extLst>
              <a:ext uri="{FF2B5EF4-FFF2-40B4-BE49-F238E27FC236}">
                <a16:creationId xmlns:a16="http://schemas.microsoft.com/office/drawing/2014/main" id="{3DA252B4-38ED-9680-69E4-6D46883592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74988" y="0"/>
            <a:ext cx="6042025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80370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1AB2B92-00D7-4E36-FFE7-030421415E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Наследование внешности</a:t>
            </a:r>
          </a:p>
        </p:txBody>
      </p:sp>
      <p:pic>
        <p:nvPicPr>
          <p:cNvPr id="6146" name="Picture 2" descr="Picture background">
            <a:extLst>
              <a:ext uri="{FF2B5EF4-FFF2-40B4-BE49-F238E27FC236}">
                <a16:creationId xmlns:a16="http://schemas.microsoft.com/office/drawing/2014/main" id="{2379CA8E-22FE-A3EA-728D-D1B5E1907547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61943" y="1870595"/>
            <a:ext cx="4068114" cy="4351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892686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ADF2815-3ED1-DF1E-7CBC-11012E3941A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336" t="13369" r="8454" b="13243"/>
          <a:stretch>
            <a:fillRect/>
          </a:stretch>
        </p:blipFill>
        <p:spPr>
          <a:xfrm>
            <a:off x="0" y="2623279"/>
            <a:ext cx="5778763" cy="3117954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6924878-A6DD-63FE-D9E0-389D22E666F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403" t="13007" r="8465" b="13007"/>
          <a:stretch>
            <a:fillRect/>
          </a:stretch>
        </p:blipFill>
        <p:spPr>
          <a:xfrm>
            <a:off x="6465242" y="2623279"/>
            <a:ext cx="5726758" cy="3117954"/>
          </a:xfrm>
          <a:prstGeom prst="rect">
            <a:avLst/>
          </a:prstGeom>
        </p:spPr>
      </p:pic>
      <p:pic>
        <p:nvPicPr>
          <p:cNvPr id="6" name="Picture 2" descr="Picture background">
            <a:extLst>
              <a:ext uri="{FF2B5EF4-FFF2-40B4-BE49-F238E27FC236}">
                <a16:creationId xmlns:a16="http://schemas.microsoft.com/office/drawing/2014/main" id="{2B3D8372-479A-037A-44A5-467C9EC68B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534985" y="891837"/>
            <a:ext cx="2708792" cy="146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Picture background">
            <a:extLst>
              <a:ext uri="{FF2B5EF4-FFF2-40B4-BE49-F238E27FC236}">
                <a16:creationId xmlns:a16="http://schemas.microsoft.com/office/drawing/2014/main" id="{D1F41A84-FD68-33E3-7742-B80912EC99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626816" y="512675"/>
            <a:ext cx="3030199" cy="199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803338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Прямоугольник: скругленные углы 1">
            <a:extLst>
              <a:ext uri="{FF2B5EF4-FFF2-40B4-BE49-F238E27FC236}">
                <a16:creationId xmlns:a16="http://schemas.microsoft.com/office/drawing/2014/main" id="{D0FE8191-5A70-5D7B-1AC1-EF1B4D97A32D}"/>
              </a:ext>
            </a:extLst>
          </p:cNvPr>
          <p:cNvSpPr/>
          <p:nvPr/>
        </p:nvSpPr>
        <p:spPr>
          <a:xfrm>
            <a:off x="4349646" y="524656"/>
            <a:ext cx="3492708" cy="11842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200" dirty="0"/>
              <a:t>Vehicle</a:t>
            </a:r>
            <a:endParaRPr lang="ru-RU" sz="3200" dirty="0"/>
          </a:p>
        </p:txBody>
      </p:sp>
      <p:pic>
        <p:nvPicPr>
          <p:cNvPr id="3" name="Picture 2" descr="Picture background">
            <a:extLst>
              <a:ext uri="{FF2B5EF4-FFF2-40B4-BE49-F238E27FC236}">
                <a16:creationId xmlns:a16="http://schemas.microsoft.com/office/drawing/2014/main" id="{BBDA7F6C-E3BA-EAA4-B021-FC23296FECE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1496629" y="3429000"/>
            <a:ext cx="2708792" cy="14616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6" descr="Picture background">
            <a:extLst>
              <a:ext uri="{FF2B5EF4-FFF2-40B4-BE49-F238E27FC236}">
                <a16:creationId xmlns:a16="http://schemas.microsoft.com/office/drawing/2014/main" id="{CA8F3B26-C3F8-FA10-08D1-4992E05B52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flipH="1">
            <a:off x="7986581" y="3162662"/>
            <a:ext cx="3030199" cy="1994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A5D69CAF-5A9C-6F78-5BD0-047027B3F3F4}"/>
              </a:ext>
            </a:extLst>
          </p:cNvPr>
          <p:cNvCxnSpPr>
            <a:stCxn id="2" idx="2"/>
            <a:endCxn id="3" idx="0"/>
          </p:cNvCxnSpPr>
          <p:nvPr/>
        </p:nvCxnSpPr>
        <p:spPr>
          <a:xfrm flipH="1">
            <a:off x="2851025" y="1708879"/>
            <a:ext cx="3244975" cy="172012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480DAFB2-94E9-F8EA-529D-B0B8CD7AC801}"/>
              </a:ext>
            </a:extLst>
          </p:cNvPr>
          <p:cNvCxnSpPr>
            <a:stCxn id="2" idx="2"/>
            <a:endCxn id="4" idx="0"/>
          </p:cNvCxnSpPr>
          <p:nvPr/>
        </p:nvCxnSpPr>
        <p:spPr>
          <a:xfrm>
            <a:off x="6096000" y="1708879"/>
            <a:ext cx="3405680" cy="145378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0776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A51371B4-E05A-E31C-0FC5-E804B840D1F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43910" y="1585289"/>
            <a:ext cx="8096250" cy="49530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05B55D48-15E3-4570-2089-8B5DC1216916}"/>
              </a:ext>
            </a:extLst>
          </p:cNvPr>
          <p:cNvSpPr txBox="1"/>
          <p:nvPr/>
        </p:nvSpPr>
        <p:spPr>
          <a:xfrm>
            <a:off x="4880699" y="331033"/>
            <a:ext cx="243060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6000" dirty="0"/>
              <a:t>Vehicle</a:t>
            </a:r>
            <a:endParaRPr lang="ru-RU" sz="6000" dirty="0"/>
          </a:p>
        </p:txBody>
      </p:sp>
    </p:spTree>
    <p:extLst>
      <p:ext uri="{BB962C8B-B14F-4D97-AF65-F5344CB8AC3E}">
        <p14:creationId xmlns:p14="http://schemas.microsoft.com/office/powerpoint/2010/main" val="417515475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315F767F-FA90-A9EB-D783-3BDF138B7D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4170" y="610432"/>
            <a:ext cx="9663660" cy="56371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384453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9BF7A0-8421-40C8-DCBE-4C92AA6CBE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1300" y="771525"/>
            <a:ext cx="6629400" cy="5314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7059005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D6E06B96-66B7-EB40-E967-0C1327546F9F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087" r="8287"/>
          <a:stretch>
            <a:fillRect/>
          </a:stretch>
        </p:blipFill>
        <p:spPr>
          <a:xfrm>
            <a:off x="284813" y="1462321"/>
            <a:ext cx="6505476" cy="4759065"/>
          </a:xfrm>
          <a:prstGeom prst="rect">
            <a:avLst/>
          </a:prstGeom>
        </p:spPr>
      </p:pic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98FA9A8-F006-A8D3-3940-C2BD3E7742C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278" r="10128"/>
          <a:stretch>
            <a:fillRect/>
          </a:stretch>
        </p:blipFill>
        <p:spPr>
          <a:xfrm>
            <a:off x="7185286" y="1465110"/>
            <a:ext cx="4721901" cy="4756276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07ABDF30-4461-BCE8-52A1-A8BF6D56C7A9}"/>
              </a:ext>
            </a:extLst>
          </p:cNvPr>
          <p:cNvCxnSpPr>
            <a:stCxn id="3" idx="3"/>
            <a:endCxn id="4" idx="1"/>
          </p:cNvCxnSpPr>
          <p:nvPr/>
        </p:nvCxnSpPr>
        <p:spPr>
          <a:xfrm>
            <a:off x="6790289" y="3841854"/>
            <a:ext cx="394997" cy="139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910850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CF5197B-445E-A049-4F0B-EEA0365E3F0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Ключевые понятия 🔑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668AAA3-75F2-7B94-4EC0-F54C86BDA8A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016140"/>
            <a:ext cx="10884108" cy="39703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Суперкласс (Родитель):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Класс, который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отдает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свои свойства и методы.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Пример: Vehicle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Подкласс (Потомок):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Класс, который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забирает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(наследует) их.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Пример: Car(Vehicle)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kumimoji="0" lang="ru-RU" altLang="ru-R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Отношение "</a:t>
            </a:r>
            <a:r>
              <a:rPr kumimoji="0" lang="ru-RU" altLang="ru-RU" b="1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</a:rPr>
              <a:t>is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-a" (является):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Car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0" i="1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является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ru-RU" altLang="ru-RU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Vehicle</a:t>
            </a:r>
            <a:r>
              <a:rPr kumimoji="0" lang="ru-RU" altLang="ru-RU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. Это помогает проверить логику.</a:t>
            </a:r>
          </a:p>
        </p:txBody>
      </p:sp>
    </p:spTree>
    <p:extLst>
      <p:ext uri="{BB962C8B-B14F-4D97-AF65-F5344CB8AC3E}">
        <p14:creationId xmlns:p14="http://schemas.microsoft.com/office/powerpoint/2010/main" val="26526806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74D1900-C721-8858-759C-8B24CADE6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Переопределение методов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18AE748D-4AB5-393E-A2D3-D7584F7E00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/>
              <a:t>Подкласс может предоставить </a:t>
            </a:r>
            <a:r>
              <a:rPr lang="ru-RU" b="1"/>
              <a:t>свою собственную реализацию</a:t>
            </a:r>
            <a:r>
              <a:rPr lang="ru-RU"/>
              <a:t> метода, который уже есть у родителя.</a:t>
            </a:r>
            <a:endParaRPr lang="ru-RU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C14D60F6-33D3-F095-7D82-D7E615843F2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7656" b="17464"/>
          <a:stretch>
            <a:fillRect/>
          </a:stretch>
        </p:blipFill>
        <p:spPr>
          <a:xfrm>
            <a:off x="718279" y="2996953"/>
            <a:ext cx="8357641" cy="2008682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5D986A4-EC51-C4D0-CA1E-69CBF2B1C25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8311" b="18118"/>
          <a:stretch>
            <a:fillRect/>
          </a:stretch>
        </p:blipFill>
        <p:spPr>
          <a:xfrm>
            <a:off x="718279" y="5005635"/>
            <a:ext cx="6806784" cy="18972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91500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D4363BB-98EA-8FA5-C661-A816CEFD0B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Функция </a:t>
            </a:r>
            <a:r>
              <a:rPr lang="ru-RU" dirty="0" err="1"/>
              <a:t>super</a:t>
            </a:r>
            <a:r>
              <a:rPr lang="ru-RU" dirty="0"/>
              <a:t>(): Не заменяй, а дополняй!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CD3693EF-C08F-ED03-C7A5-6862C8D87B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 err="1"/>
              <a:t>super</a:t>
            </a:r>
            <a:r>
              <a:rPr lang="ru-RU" dirty="0"/>
              <a:t>() дает доступ к родительскому классу. Это идеально, чтобы </a:t>
            </a:r>
          </a:p>
          <a:p>
            <a:r>
              <a:rPr lang="ru-RU" b="1" dirty="0"/>
              <a:t>расширить</a:t>
            </a:r>
            <a:r>
              <a:rPr lang="ru-RU" dirty="0"/>
              <a:t> функциональность, а не писать всё с нуля.</a:t>
            </a:r>
          </a:p>
          <a:p>
            <a:r>
              <a:rPr lang="ru-RU" dirty="0"/>
              <a:t>Самый частый пример — __</a:t>
            </a:r>
            <a:r>
              <a:rPr lang="en-US" dirty="0" err="1"/>
              <a:t>init</a:t>
            </a:r>
            <a:r>
              <a:rPr lang="en-US" dirty="0"/>
              <a:t>__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74170887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8B3AE3B-D6EA-D1FD-F7D9-A0485CA9B2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1 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389C3FC-E821-071E-2918-4715A40F3B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Создайте класс Human, который будет содержать информацию о человеке. </a:t>
            </a:r>
            <a:endParaRPr lang="en-US" dirty="0"/>
          </a:p>
          <a:p>
            <a:r>
              <a:rPr lang="ru-RU" dirty="0"/>
              <a:t>С</a:t>
            </a:r>
            <a:r>
              <a:rPr lang="en-US" dirty="0"/>
              <a:t> </a:t>
            </a:r>
            <a:r>
              <a:rPr lang="ru-RU" dirty="0"/>
              <a:t>помощью механизма наследования, реализуйте </a:t>
            </a:r>
            <a:endParaRPr lang="en-US" dirty="0"/>
          </a:p>
          <a:p>
            <a:pPr lvl="1"/>
            <a:r>
              <a:rPr lang="ru-RU" dirty="0"/>
              <a:t>класс </a:t>
            </a:r>
            <a:r>
              <a:rPr lang="ru-RU" dirty="0" err="1"/>
              <a:t>Builder</a:t>
            </a:r>
            <a:r>
              <a:rPr lang="ru-RU" dirty="0"/>
              <a:t> (содержит информацию о строителе), </a:t>
            </a:r>
            <a:endParaRPr lang="en-US" dirty="0"/>
          </a:p>
          <a:p>
            <a:pPr lvl="1"/>
            <a:r>
              <a:rPr lang="ru-RU" dirty="0"/>
              <a:t>класс </a:t>
            </a:r>
            <a:r>
              <a:rPr lang="ru-RU" dirty="0" err="1"/>
              <a:t>Sailor</a:t>
            </a:r>
            <a:r>
              <a:rPr lang="ru-RU" dirty="0"/>
              <a:t> (содержит информацию о моряке), </a:t>
            </a:r>
            <a:endParaRPr lang="en-US" dirty="0"/>
          </a:p>
          <a:p>
            <a:pPr lvl="1"/>
            <a:r>
              <a:rPr lang="ru-RU" dirty="0"/>
              <a:t>класс Pilot (содержит информацию о летчике). </a:t>
            </a:r>
            <a:endParaRPr lang="en-US" dirty="0"/>
          </a:p>
          <a:p>
            <a:r>
              <a:rPr lang="ru-RU" dirty="0"/>
              <a:t>Каждый из классов должен содержать необходимые для работы методы.</a:t>
            </a:r>
          </a:p>
        </p:txBody>
      </p:sp>
    </p:spTree>
    <p:extLst>
      <p:ext uri="{BB962C8B-B14F-4D97-AF65-F5344CB8AC3E}">
        <p14:creationId xmlns:p14="http://schemas.microsoft.com/office/powerpoint/2010/main" val="15503513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Группа 5">
            <a:extLst>
              <a:ext uri="{FF2B5EF4-FFF2-40B4-BE49-F238E27FC236}">
                <a16:creationId xmlns:a16="http://schemas.microsoft.com/office/drawing/2014/main" id="{23147990-F647-0686-D34D-861E1C4E9F27}"/>
              </a:ext>
            </a:extLst>
          </p:cNvPr>
          <p:cNvGrpSpPr/>
          <p:nvPr/>
        </p:nvGrpSpPr>
        <p:grpSpPr>
          <a:xfrm>
            <a:off x="4761873" y="517986"/>
            <a:ext cx="2668249" cy="1850460"/>
            <a:chOff x="614597" y="1690689"/>
            <a:chExt cx="2128603" cy="2325599"/>
          </a:xfrm>
        </p:grpSpPr>
        <p:sp>
          <p:nvSpPr>
            <p:cNvPr id="4" name="Прямоугольник 3">
              <a:extLst>
                <a:ext uri="{FF2B5EF4-FFF2-40B4-BE49-F238E27FC236}">
                  <a16:creationId xmlns:a16="http://schemas.microsoft.com/office/drawing/2014/main" id="{48EAB2D7-16E4-3925-305C-E1744A294626}"/>
                </a:ext>
              </a:extLst>
            </p:cNvPr>
            <p:cNvSpPr/>
            <p:nvPr/>
          </p:nvSpPr>
          <p:spPr>
            <a:xfrm>
              <a:off x="614597" y="2455186"/>
              <a:ext cx="2128603" cy="1561102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name </a:t>
              </a:r>
              <a:endParaRPr lang="ru-RU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age </a:t>
              </a:r>
              <a:endParaRPr lang="ru-RU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b="1" dirty="0"/>
                <a:t>introduce</a:t>
              </a:r>
              <a:r>
                <a:rPr lang="ru-RU" sz="2400" dirty="0"/>
                <a:t>()</a:t>
              </a:r>
            </a:p>
          </p:txBody>
        </p:sp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A08247A8-78F6-13FE-74E5-729BE3FCDA95}"/>
                </a:ext>
              </a:extLst>
            </p:cNvPr>
            <p:cNvSpPr/>
            <p:nvPr/>
          </p:nvSpPr>
          <p:spPr>
            <a:xfrm>
              <a:off x="614597" y="1690689"/>
              <a:ext cx="2128603" cy="764500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Human</a:t>
              </a:r>
              <a:endParaRPr lang="ru-RU" sz="2800" dirty="0"/>
            </a:p>
          </p:txBody>
        </p:sp>
      </p:grpSp>
      <p:grpSp>
        <p:nvGrpSpPr>
          <p:cNvPr id="14" name="Группа 13">
            <a:extLst>
              <a:ext uri="{FF2B5EF4-FFF2-40B4-BE49-F238E27FC236}">
                <a16:creationId xmlns:a16="http://schemas.microsoft.com/office/drawing/2014/main" id="{E7555399-981B-0D06-1C54-49F7DE1BFEDA}"/>
              </a:ext>
            </a:extLst>
          </p:cNvPr>
          <p:cNvGrpSpPr/>
          <p:nvPr/>
        </p:nvGrpSpPr>
        <p:grpSpPr>
          <a:xfrm>
            <a:off x="894410" y="3429000"/>
            <a:ext cx="2668249" cy="1850461"/>
            <a:chOff x="614597" y="1690688"/>
            <a:chExt cx="2128603" cy="2325600"/>
          </a:xfrm>
        </p:grpSpPr>
        <p:sp>
          <p:nvSpPr>
            <p:cNvPr id="15" name="Прямоугольник 14">
              <a:extLst>
                <a:ext uri="{FF2B5EF4-FFF2-40B4-BE49-F238E27FC236}">
                  <a16:creationId xmlns:a16="http://schemas.microsoft.com/office/drawing/2014/main" id="{19D1A4F1-B186-DC1B-F433-260CAFC8D903}"/>
                </a:ext>
              </a:extLst>
            </p:cNvPr>
            <p:cNvSpPr/>
            <p:nvPr/>
          </p:nvSpPr>
          <p:spPr>
            <a:xfrm>
              <a:off x="614597" y="2455186"/>
              <a:ext cx="2128603" cy="1561102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specialty  </a:t>
              </a:r>
              <a:endParaRPr lang="ru-RU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b="1" dirty="0"/>
                <a:t>work() </a:t>
              </a:r>
              <a:endParaRPr lang="ru-RU" sz="2400" b="1" dirty="0"/>
            </a:p>
          </p:txBody>
        </p:sp>
        <p:sp>
          <p:nvSpPr>
            <p:cNvPr id="16" name="Прямоугольник 15">
              <a:extLst>
                <a:ext uri="{FF2B5EF4-FFF2-40B4-BE49-F238E27FC236}">
                  <a16:creationId xmlns:a16="http://schemas.microsoft.com/office/drawing/2014/main" id="{5A09BE9E-0633-365E-8FE3-2AD0193A8FA9}"/>
                </a:ext>
              </a:extLst>
            </p:cNvPr>
            <p:cNvSpPr/>
            <p:nvPr/>
          </p:nvSpPr>
          <p:spPr>
            <a:xfrm>
              <a:off x="614597" y="1690688"/>
              <a:ext cx="2128603" cy="764499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Builder</a:t>
              </a:r>
              <a:endParaRPr lang="ru-RU" sz="2800" dirty="0"/>
            </a:p>
          </p:txBody>
        </p:sp>
      </p:grpSp>
      <p:grpSp>
        <p:nvGrpSpPr>
          <p:cNvPr id="17" name="Группа 16">
            <a:extLst>
              <a:ext uri="{FF2B5EF4-FFF2-40B4-BE49-F238E27FC236}">
                <a16:creationId xmlns:a16="http://schemas.microsoft.com/office/drawing/2014/main" id="{2ECFACA6-70AB-8311-7167-7E83A379F0F3}"/>
              </a:ext>
            </a:extLst>
          </p:cNvPr>
          <p:cNvGrpSpPr/>
          <p:nvPr/>
        </p:nvGrpSpPr>
        <p:grpSpPr>
          <a:xfrm>
            <a:off x="4761874" y="3429000"/>
            <a:ext cx="2668249" cy="1850461"/>
            <a:chOff x="614597" y="1690688"/>
            <a:chExt cx="2128603" cy="2325600"/>
          </a:xfrm>
        </p:grpSpPr>
        <p:sp>
          <p:nvSpPr>
            <p:cNvPr id="18" name="Прямоугольник 17">
              <a:extLst>
                <a:ext uri="{FF2B5EF4-FFF2-40B4-BE49-F238E27FC236}">
                  <a16:creationId xmlns:a16="http://schemas.microsoft.com/office/drawing/2014/main" id="{656962A5-CC3A-1EEE-BC1D-F349C9C5346C}"/>
                </a:ext>
              </a:extLst>
            </p:cNvPr>
            <p:cNvSpPr/>
            <p:nvPr/>
          </p:nvSpPr>
          <p:spPr>
            <a:xfrm>
              <a:off x="614597" y="2455186"/>
              <a:ext cx="2128603" cy="1561102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ship  </a:t>
              </a:r>
              <a:endParaRPr lang="ru-RU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sail() </a:t>
              </a:r>
              <a:endParaRPr lang="ru-RU" sz="2400" dirty="0"/>
            </a:p>
          </p:txBody>
        </p:sp>
        <p:sp>
          <p:nvSpPr>
            <p:cNvPr id="19" name="Прямоугольник 18">
              <a:extLst>
                <a:ext uri="{FF2B5EF4-FFF2-40B4-BE49-F238E27FC236}">
                  <a16:creationId xmlns:a16="http://schemas.microsoft.com/office/drawing/2014/main" id="{7FCBE10F-12D1-5223-170B-590B8B861396}"/>
                </a:ext>
              </a:extLst>
            </p:cNvPr>
            <p:cNvSpPr/>
            <p:nvPr/>
          </p:nvSpPr>
          <p:spPr>
            <a:xfrm>
              <a:off x="614597" y="1690688"/>
              <a:ext cx="2128603" cy="764499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Sailor</a:t>
              </a:r>
              <a:endParaRPr lang="ru-RU" sz="2800" dirty="0"/>
            </a:p>
          </p:txBody>
        </p:sp>
      </p:grpSp>
      <p:grpSp>
        <p:nvGrpSpPr>
          <p:cNvPr id="20" name="Группа 19">
            <a:extLst>
              <a:ext uri="{FF2B5EF4-FFF2-40B4-BE49-F238E27FC236}">
                <a16:creationId xmlns:a16="http://schemas.microsoft.com/office/drawing/2014/main" id="{AB2F93AC-A0BA-B123-06B0-5866D70C1B23}"/>
              </a:ext>
            </a:extLst>
          </p:cNvPr>
          <p:cNvGrpSpPr/>
          <p:nvPr/>
        </p:nvGrpSpPr>
        <p:grpSpPr>
          <a:xfrm>
            <a:off x="8629338" y="3429000"/>
            <a:ext cx="2668249" cy="1850461"/>
            <a:chOff x="614597" y="1690688"/>
            <a:chExt cx="2128603" cy="2325600"/>
          </a:xfrm>
        </p:grpSpPr>
        <p:sp>
          <p:nvSpPr>
            <p:cNvPr id="21" name="Прямоугольник 20">
              <a:extLst>
                <a:ext uri="{FF2B5EF4-FFF2-40B4-BE49-F238E27FC236}">
                  <a16:creationId xmlns:a16="http://schemas.microsoft.com/office/drawing/2014/main" id="{4EBEE289-2B01-D99D-19E5-3E04216038D4}"/>
                </a:ext>
              </a:extLst>
            </p:cNvPr>
            <p:cNvSpPr/>
            <p:nvPr/>
          </p:nvSpPr>
          <p:spPr>
            <a:xfrm>
              <a:off x="614597" y="2455186"/>
              <a:ext cx="2128603" cy="1561102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aircraft  </a:t>
              </a:r>
              <a:endParaRPr lang="ru-RU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fly() </a:t>
              </a:r>
              <a:endParaRPr lang="ru-RU" sz="2400" dirty="0"/>
            </a:p>
          </p:txBody>
        </p:sp>
        <p:sp>
          <p:nvSpPr>
            <p:cNvPr id="22" name="Прямоугольник 21">
              <a:extLst>
                <a:ext uri="{FF2B5EF4-FFF2-40B4-BE49-F238E27FC236}">
                  <a16:creationId xmlns:a16="http://schemas.microsoft.com/office/drawing/2014/main" id="{3B9B2705-F2A0-B7ED-E0C6-6B573E6BE2D8}"/>
                </a:ext>
              </a:extLst>
            </p:cNvPr>
            <p:cNvSpPr/>
            <p:nvPr/>
          </p:nvSpPr>
          <p:spPr>
            <a:xfrm>
              <a:off x="614597" y="1690688"/>
              <a:ext cx="2128603" cy="764499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Pilot</a:t>
              </a:r>
              <a:endParaRPr lang="ru-RU" sz="2800" dirty="0"/>
            </a:p>
          </p:txBody>
        </p:sp>
      </p:grp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DE39E7F7-A774-5113-AB63-E519B774AA3F}"/>
              </a:ext>
            </a:extLst>
          </p:cNvPr>
          <p:cNvCxnSpPr>
            <a:stCxn id="4" idx="2"/>
            <a:endCxn id="19" idx="0"/>
          </p:cNvCxnSpPr>
          <p:nvPr/>
        </p:nvCxnSpPr>
        <p:spPr>
          <a:xfrm>
            <a:off x="6095998" y="2368446"/>
            <a:ext cx="1" cy="10605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Соединитель: уступ 25">
            <a:extLst>
              <a:ext uri="{FF2B5EF4-FFF2-40B4-BE49-F238E27FC236}">
                <a16:creationId xmlns:a16="http://schemas.microsoft.com/office/drawing/2014/main" id="{747A6761-8307-FF92-9045-27006F4596D0}"/>
              </a:ext>
            </a:extLst>
          </p:cNvPr>
          <p:cNvCxnSpPr>
            <a:stCxn id="4" idx="2"/>
            <a:endCxn id="16" idx="0"/>
          </p:cNvCxnSpPr>
          <p:nvPr/>
        </p:nvCxnSpPr>
        <p:spPr>
          <a:xfrm rot="5400000">
            <a:off x="3631990" y="964992"/>
            <a:ext cx="1060554" cy="3867463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Соединитель: уступ 27">
            <a:extLst>
              <a:ext uri="{FF2B5EF4-FFF2-40B4-BE49-F238E27FC236}">
                <a16:creationId xmlns:a16="http://schemas.microsoft.com/office/drawing/2014/main" id="{3D86B877-88AB-EED0-9E13-F03902D68C61}"/>
              </a:ext>
            </a:extLst>
          </p:cNvPr>
          <p:cNvCxnSpPr>
            <a:stCxn id="4" idx="2"/>
            <a:endCxn id="22" idx="0"/>
          </p:cNvCxnSpPr>
          <p:nvPr/>
        </p:nvCxnSpPr>
        <p:spPr>
          <a:xfrm rot="16200000" flipH="1">
            <a:off x="7499453" y="964990"/>
            <a:ext cx="1060554" cy="3867465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7551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4D618A19-407C-D88C-2173-EFF137D341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🎯 Задачи студентов</a:t>
            </a:r>
            <a:endParaRPr lang="ru-RU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C1C66FC-1DA9-BDA1-8C2E-5380D4601DC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119754"/>
            <a:ext cx="10515600" cy="37630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514350" marR="0" lvl="0" indent="-514350" fontAlgn="base"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dirty="0"/>
              <a:t>Реализовать классы Human, </a:t>
            </a:r>
            <a:r>
              <a:rPr lang="ru-RU" altLang="ru-RU" dirty="0" err="1"/>
              <a:t>Builder</a:t>
            </a:r>
            <a:r>
              <a:rPr lang="ru-RU" altLang="ru-RU" dirty="0"/>
              <a:t>, </a:t>
            </a:r>
            <a:r>
              <a:rPr lang="ru-RU" altLang="ru-RU" dirty="0" err="1"/>
              <a:t>Sailor</a:t>
            </a:r>
            <a:r>
              <a:rPr lang="ru-RU" altLang="ru-RU" dirty="0"/>
              <a:t> и Pilot с атрибутами и методами.</a:t>
            </a:r>
          </a:p>
          <a:p>
            <a:pPr marL="514350" marR="0" lvl="0" indent="-514350" fontAlgn="base"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dirty="0"/>
              <a:t>Создать по одному объекту каждого класса.</a:t>
            </a:r>
          </a:p>
          <a:p>
            <a:pPr marL="514350" marR="0" lvl="0" indent="-514350" fontAlgn="base">
              <a:spcAft>
                <a:spcPct val="0"/>
              </a:spcAft>
              <a:buClrTx/>
              <a:buSzTx/>
              <a:buFont typeface="+mj-lt"/>
              <a:buAutoNum type="arabicPeriod"/>
              <a:tabLst/>
            </a:pPr>
            <a:r>
              <a:rPr lang="ru-RU" altLang="ru-RU" dirty="0"/>
              <a:t>Вызвать методы:</a:t>
            </a:r>
          </a:p>
          <a:p>
            <a:pPr lvl="1" fontAlgn="base">
              <a:spcAft>
                <a:spcPct val="0"/>
              </a:spcAft>
            </a:pPr>
            <a:r>
              <a:rPr lang="ru-RU" altLang="ru-RU" dirty="0" err="1"/>
              <a:t>introduce</a:t>
            </a:r>
            <a:r>
              <a:rPr lang="ru-RU" altLang="ru-RU" dirty="0"/>
              <a:t>() для всех объектов</a:t>
            </a:r>
          </a:p>
          <a:p>
            <a:pPr lvl="1" fontAlgn="base">
              <a:spcAft>
                <a:spcPct val="0"/>
              </a:spcAft>
            </a:pPr>
            <a:r>
              <a:rPr lang="ru-RU" altLang="ru-RU" dirty="0" err="1"/>
              <a:t>work</a:t>
            </a:r>
            <a:r>
              <a:rPr lang="ru-RU" altLang="ru-RU" dirty="0"/>
              <a:t>() для строителя</a:t>
            </a:r>
          </a:p>
          <a:p>
            <a:pPr lvl="1" fontAlgn="base">
              <a:spcAft>
                <a:spcPct val="0"/>
              </a:spcAft>
            </a:pPr>
            <a:r>
              <a:rPr lang="ru-RU" altLang="ru-RU" dirty="0" err="1"/>
              <a:t>sail</a:t>
            </a:r>
            <a:r>
              <a:rPr lang="ru-RU" altLang="ru-RU" dirty="0"/>
              <a:t>() для моряка</a:t>
            </a:r>
          </a:p>
          <a:p>
            <a:pPr lvl="1" fontAlgn="base">
              <a:spcAft>
                <a:spcPct val="0"/>
              </a:spcAft>
            </a:pPr>
            <a:r>
              <a:rPr lang="ru-RU" altLang="ru-RU" dirty="0" err="1"/>
              <a:t>fly</a:t>
            </a:r>
            <a:r>
              <a:rPr lang="ru-RU" altLang="ru-RU" dirty="0"/>
              <a:t>() для лётчика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altLang="ru-RU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542400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64BA2E2-3B94-2D3D-76E1-C44F9F17A8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3E20D264-A999-7701-8A56-11A33D0763C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ru-RU" dirty="0"/>
              <a:t>Меня зовут Иван, мне 30 лет.</a:t>
            </a:r>
          </a:p>
          <a:p>
            <a:endParaRPr lang="ru-RU" dirty="0"/>
          </a:p>
          <a:p>
            <a:r>
              <a:rPr lang="ru-RU" dirty="0"/>
              <a:t>Меня зовут Алексей, мне 40 лет.</a:t>
            </a:r>
          </a:p>
          <a:p>
            <a:r>
              <a:rPr lang="ru-RU" dirty="0"/>
              <a:t>Алексей строит дом.</a:t>
            </a:r>
          </a:p>
          <a:p>
            <a:endParaRPr lang="ru-RU" dirty="0"/>
          </a:p>
          <a:p>
            <a:r>
              <a:rPr lang="ru-RU" dirty="0"/>
              <a:t>Меня зовут Олег, мне 28 лет.</a:t>
            </a:r>
          </a:p>
          <a:p>
            <a:r>
              <a:rPr lang="ru-RU" dirty="0"/>
              <a:t>Олег плывёт на корабле 'Аврора’.</a:t>
            </a:r>
          </a:p>
          <a:p>
            <a:endParaRPr lang="ru-RU" dirty="0"/>
          </a:p>
          <a:p>
            <a:r>
              <a:rPr lang="ru-RU" dirty="0"/>
              <a:t>Меня зовут Мария, мне 35 лет.</a:t>
            </a:r>
          </a:p>
          <a:p>
            <a:r>
              <a:rPr lang="ru-RU" dirty="0"/>
              <a:t>Мария управляет самолётом 'Boeing 737'.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24867530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F50A7443-428A-433E-ED3C-63AB77CDDF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Задание </a:t>
            </a:r>
            <a:r>
              <a:rPr lang="en-US" dirty="0"/>
              <a:t>2</a:t>
            </a:r>
            <a:endParaRPr lang="ru-RU" dirty="0"/>
          </a:p>
        </p:txBody>
      </p:sp>
      <p:grpSp>
        <p:nvGrpSpPr>
          <p:cNvPr id="4" name="Группа 3">
            <a:extLst>
              <a:ext uri="{FF2B5EF4-FFF2-40B4-BE49-F238E27FC236}">
                <a16:creationId xmlns:a16="http://schemas.microsoft.com/office/drawing/2014/main" id="{553C359C-8082-B32F-57D9-DD7E9B22CC83}"/>
              </a:ext>
            </a:extLst>
          </p:cNvPr>
          <p:cNvGrpSpPr/>
          <p:nvPr/>
        </p:nvGrpSpPr>
        <p:grpSpPr>
          <a:xfrm>
            <a:off x="838200" y="2946392"/>
            <a:ext cx="2999282" cy="3244546"/>
            <a:chOff x="614597" y="1690689"/>
            <a:chExt cx="2128603" cy="4077642"/>
          </a:xfrm>
        </p:grpSpPr>
        <p:sp>
          <p:nvSpPr>
            <p:cNvPr id="5" name="Прямоугольник 4">
              <a:extLst>
                <a:ext uri="{FF2B5EF4-FFF2-40B4-BE49-F238E27FC236}">
                  <a16:creationId xmlns:a16="http://schemas.microsoft.com/office/drawing/2014/main" id="{EB076514-0EA7-82E4-323E-55A8F4593DD9}"/>
                </a:ext>
              </a:extLst>
            </p:cNvPr>
            <p:cNvSpPr/>
            <p:nvPr/>
          </p:nvSpPr>
          <p:spPr>
            <a:xfrm>
              <a:off x="614597" y="2455185"/>
              <a:ext cx="2128603" cy="3313146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 err="1"/>
                <a:t>full_name</a:t>
              </a:r>
              <a:r>
                <a:rPr lang="en-US" sz="2400" dirty="0"/>
                <a:t> </a:t>
              </a:r>
              <a:endParaRPr lang="ru-RU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 err="1"/>
                <a:t>birth_date</a:t>
              </a:r>
              <a:r>
                <a:rPr lang="en-US" sz="2400" dirty="0"/>
                <a:t> </a:t>
              </a:r>
              <a:endParaRPr lang="ru-RU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Country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 err="1"/>
                <a:t>passport_number</a:t>
              </a:r>
              <a:endParaRPr lang="en-US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 err="1"/>
                <a:t>show_info</a:t>
              </a:r>
              <a:r>
                <a:rPr lang="en-US" sz="2400" dirty="0"/>
                <a:t>()</a:t>
              </a:r>
              <a:endParaRPr lang="ru-RU" sz="2400" dirty="0"/>
            </a:p>
          </p:txBody>
        </p:sp>
        <p:sp>
          <p:nvSpPr>
            <p:cNvPr id="6" name="Прямоугольник 5">
              <a:extLst>
                <a:ext uri="{FF2B5EF4-FFF2-40B4-BE49-F238E27FC236}">
                  <a16:creationId xmlns:a16="http://schemas.microsoft.com/office/drawing/2014/main" id="{801739FC-D9CE-58C8-2BF4-1CDF8260F72D}"/>
                </a:ext>
              </a:extLst>
            </p:cNvPr>
            <p:cNvSpPr/>
            <p:nvPr/>
          </p:nvSpPr>
          <p:spPr>
            <a:xfrm>
              <a:off x="614597" y="1690689"/>
              <a:ext cx="2128603" cy="764500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/>
                <a:t>Passport</a:t>
              </a:r>
              <a:endParaRPr lang="ru-RU" sz="2800" dirty="0"/>
            </a:p>
          </p:txBody>
        </p:sp>
      </p:grpSp>
      <p:grpSp>
        <p:nvGrpSpPr>
          <p:cNvPr id="7" name="Группа 6">
            <a:extLst>
              <a:ext uri="{FF2B5EF4-FFF2-40B4-BE49-F238E27FC236}">
                <a16:creationId xmlns:a16="http://schemas.microsoft.com/office/drawing/2014/main" id="{FBCE3932-10CF-3387-4E44-147E66D53EC1}"/>
              </a:ext>
            </a:extLst>
          </p:cNvPr>
          <p:cNvGrpSpPr/>
          <p:nvPr/>
        </p:nvGrpSpPr>
        <p:grpSpPr>
          <a:xfrm>
            <a:off x="6975423" y="2946392"/>
            <a:ext cx="4378377" cy="3244546"/>
            <a:chOff x="614597" y="1690689"/>
            <a:chExt cx="2128603" cy="4077642"/>
          </a:xfrm>
        </p:grpSpPr>
        <p:sp>
          <p:nvSpPr>
            <p:cNvPr id="8" name="Прямоугольник 7">
              <a:extLst>
                <a:ext uri="{FF2B5EF4-FFF2-40B4-BE49-F238E27FC236}">
                  <a16:creationId xmlns:a16="http://schemas.microsoft.com/office/drawing/2014/main" id="{F8F7CA1C-097C-7A38-493B-DD1EED6ABFEB}"/>
                </a:ext>
              </a:extLst>
            </p:cNvPr>
            <p:cNvSpPr/>
            <p:nvPr/>
          </p:nvSpPr>
          <p:spPr>
            <a:xfrm>
              <a:off x="614597" y="2455185"/>
              <a:ext cx="2128603" cy="3313146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t"/>
            <a:lstStyle/>
            <a:p>
              <a:pPr marL="342900" indent="-342900">
                <a:buFont typeface="Arial" panose="020B0604020202020204" pitchFamily="34" charset="0"/>
                <a:buChar char="•"/>
              </a:pPr>
              <a:endParaRPr lang="en-US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 err="1"/>
                <a:t>foreign_number</a:t>
              </a:r>
              <a:endParaRPr lang="en-US" sz="2400" dirty="0"/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/>
                <a:t>visas []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 err="1"/>
                <a:t>add_visa</a:t>
              </a:r>
              <a:r>
                <a:rPr lang="en-US" sz="2400" dirty="0"/>
                <a:t>(country, </a:t>
              </a:r>
              <a:r>
                <a:rPr lang="en-US" sz="2400" dirty="0" err="1"/>
                <a:t>valid_until</a:t>
              </a:r>
              <a:r>
                <a:rPr lang="en-US" sz="2400" dirty="0"/>
                <a:t>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r>
                <a:rPr lang="en-US" sz="2400" dirty="0" err="1"/>
                <a:t>show_info</a:t>
              </a:r>
              <a:r>
                <a:rPr lang="en-US" sz="2400" dirty="0"/>
                <a:t>()</a:t>
              </a:r>
            </a:p>
            <a:p>
              <a:pPr marL="342900" indent="-342900">
                <a:buFont typeface="Arial" panose="020B0604020202020204" pitchFamily="34" charset="0"/>
                <a:buChar char="•"/>
              </a:pPr>
              <a:endParaRPr lang="ru-RU" sz="2400" dirty="0"/>
            </a:p>
          </p:txBody>
        </p:sp>
        <p:sp>
          <p:nvSpPr>
            <p:cNvPr id="9" name="Прямоугольник 8">
              <a:extLst>
                <a:ext uri="{FF2B5EF4-FFF2-40B4-BE49-F238E27FC236}">
                  <a16:creationId xmlns:a16="http://schemas.microsoft.com/office/drawing/2014/main" id="{1ECC13E1-6A4D-4E9E-633D-1B05AC2034C4}"/>
                </a:ext>
              </a:extLst>
            </p:cNvPr>
            <p:cNvSpPr/>
            <p:nvPr/>
          </p:nvSpPr>
          <p:spPr>
            <a:xfrm>
              <a:off x="614597" y="1690689"/>
              <a:ext cx="2128603" cy="764500"/>
            </a:xfrm>
            <a:prstGeom prst="rect">
              <a:avLst/>
            </a:prstGeom>
            <a:ln w="28575"/>
          </p:spPr>
          <p:style>
            <a:lnRef idx="2">
              <a:schemeClr val="accent1"/>
            </a:lnRef>
            <a:fillRef idx="1">
              <a:schemeClr val="lt1"/>
            </a:fillRef>
            <a:effectRef idx="0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en-US" sz="2800" dirty="0" err="1"/>
                <a:t>ForeignPassport</a:t>
              </a:r>
              <a:endParaRPr lang="ru-RU" sz="2800" dirty="0"/>
            </a:p>
          </p:txBody>
        </p:sp>
      </p:grpSp>
      <p:cxnSp>
        <p:nvCxnSpPr>
          <p:cNvPr id="11" name="Прямая со стрелкой 10">
            <a:extLst>
              <a:ext uri="{FF2B5EF4-FFF2-40B4-BE49-F238E27FC236}">
                <a16:creationId xmlns:a16="http://schemas.microsoft.com/office/drawing/2014/main" id="{C1301BCC-16F8-B56B-2BC2-3FCC9F2674D6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3837482" y="4872817"/>
            <a:ext cx="3137941" cy="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8923542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2F76221-8543-E9E6-9012-4235F25BE8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b="1" dirty="0"/>
              <a:t>🎯 Задачи студентов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044F65B-55B3-0CBB-260B-9699CCB67A1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Реализовать классы </a:t>
            </a:r>
            <a:r>
              <a:rPr lang="ru-RU" dirty="0" err="1"/>
              <a:t>Passport</a:t>
            </a:r>
            <a:r>
              <a:rPr lang="ru-RU" dirty="0"/>
              <a:t> и </a:t>
            </a:r>
            <a:r>
              <a:rPr lang="ru-RU" dirty="0" err="1"/>
              <a:t>ForeignPassport</a:t>
            </a:r>
            <a:r>
              <a:rPr lang="ru-RU" dirty="0"/>
              <a:t> с описанными атрибутами и методами.</a:t>
            </a:r>
          </a:p>
          <a:p>
            <a:r>
              <a:rPr lang="ru-RU" dirty="0"/>
              <a:t>Создать объект класса </a:t>
            </a:r>
            <a:r>
              <a:rPr lang="ru-RU" dirty="0" err="1"/>
              <a:t>Passport</a:t>
            </a:r>
            <a:r>
              <a:rPr lang="ru-RU" dirty="0"/>
              <a:t> и вызвать метод </a:t>
            </a:r>
            <a:r>
              <a:rPr lang="ru-RU" dirty="0" err="1"/>
              <a:t>show_info</a:t>
            </a:r>
            <a:r>
              <a:rPr lang="ru-RU" dirty="0"/>
              <a:t>().</a:t>
            </a:r>
          </a:p>
          <a:p>
            <a:r>
              <a:rPr lang="ru-RU" dirty="0"/>
              <a:t>Создать объект класса </a:t>
            </a:r>
            <a:r>
              <a:rPr lang="ru-RU" dirty="0" err="1"/>
              <a:t>ForeignPassport</a:t>
            </a:r>
            <a:r>
              <a:rPr lang="ru-RU" dirty="0"/>
              <a:t>, добавить несколько виз через </a:t>
            </a:r>
            <a:r>
              <a:rPr lang="ru-RU" dirty="0" err="1"/>
              <a:t>add_visa</a:t>
            </a:r>
            <a:r>
              <a:rPr lang="ru-RU" dirty="0"/>
              <a:t>().</a:t>
            </a:r>
          </a:p>
          <a:p>
            <a:r>
              <a:rPr lang="ru-RU" dirty="0"/>
              <a:t>Вызвать метод </a:t>
            </a:r>
            <a:r>
              <a:rPr lang="ru-RU" dirty="0" err="1"/>
              <a:t>show_info</a:t>
            </a:r>
            <a:r>
              <a:rPr lang="ru-RU" dirty="0"/>
              <a:t>() у объекта загранпаспорта, убедившись, что отображаются все визы и номер загранпаспорта.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8651949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BBA12B4-F9B6-0983-BD47-54C424679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Вывод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9525199B-8545-BC07-910D-630E6DF82376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=== Паспорт ===</a:t>
            </a:r>
          </a:p>
          <a:p>
            <a:r>
              <a:rPr lang="ru-RU" dirty="0"/>
              <a:t>ФИО: Иванов Иван Иванович</a:t>
            </a:r>
          </a:p>
          <a:p>
            <a:r>
              <a:rPr lang="ru-RU" dirty="0"/>
              <a:t>Дата рождения: 01.01.1990</a:t>
            </a:r>
          </a:p>
          <a:p>
            <a:r>
              <a:rPr lang="ru-RU" dirty="0"/>
              <a:t>Гражданство: Россия</a:t>
            </a:r>
          </a:p>
          <a:p>
            <a:r>
              <a:rPr lang="ru-RU" dirty="0"/>
              <a:t>Номер паспорта: 1234 567890</a:t>
            </a:r>
          </a:p>
        </p:txBody>
      </p:sp>
      <p:sp>
        <p:nvSpPr>
          <p:cNvPr id="4" name="Объект 3">
            <a:extLst>
              <a:ext uri="{FF2B5EF4-FFF2-40B4-BE49-F238E27FC236}">
                <a16:creationId xmlns:a16="http://schemas.microsoft.com/office/drawing/2014/main" id="{E3E17F3E-7624-E50F-33E6-93E0D2B1404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ru-RU" dirty="0"/>
              <a:t>=== Загранпаспорт ===</a:t>
            </a:r>
          </a:p>
          <a:p>
            <a:r>
              <a:rPr lang="ru-RU" dirty="0"/>
              <a:t>ФИО: Иванов Иван Иванович</a:t>
            </a:r>
          </a:p>
          <a:p>
            <a:r>
              <a:rPr lang="ru-RU" dirty="0"/>
              <a:t>Дата рождения: 01.01.1990</a:t>
            </a:r>
          </a:p>
          <a:p>
            <a:r>
              <a:rPr lang="ru-RU" dirty="0"/>
              <a:t>Гражданство: Россия</a:t>
            </a:r>
          </a:p>
          <a:p>
            <a:r>
              <a:rPr lang="ru-RU" dirty="0"/>
              <a:t>Номер паспорта: 1234 567890</a:t>
            </a:r>
          </a:p>
          <a:p>
            <a:r>
              <a:rPr lang="ru-RU" dirty="0"/>
              <a:t>Номер загранпаспорта: Z987654321</a:t>
            </a:r>
          </a:p>
          <a:p>
            <a:r>
              <a:rPr lang="ru-RU" dirty="0"/>
              <a:t>Визы:</a:t>
            </a:r>
          </a:p>
          <a:p>
            <a:r>
              <a:rPr lang="ru-RU" dirty="0"/>
              <a:t> - Германия (до 12.2025)</a:t>
            </a:r>
          </a:p>
          <a:p>
            <a:r>
              <a:rPr lang="ru-RU" dirty="0"/>
              <a:t> - Италия (до 06.2026)</a:t>
            </a:r>
          </a:p>
        </p:txBody>
      </p:sp>
    </p:spTree>
    <p:extLst>
      <p:ext uri="{BB962C8B-B14F-4D97-AF65-F5344CB8AC3E}">
        <p14:creationId xmlns:p14="http://schemas.microsoft.com/office/powerpoint/2010/main" val="49144845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147</TotalTime>
  <Words>539</Words>
  <Application>Microsoft Office PowerPoint</Application>
  <PresentationFormat>Широкоэкранный</PresentationFormat>
  <Paragraphs>114</Paragraphs>
  <Slides>22</Slides>
  <Notes>1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22</vt:i4>
      </vt:variant>
    </vt:vector>
  </HeadingPairs>
  <TitlesOfParts>
    <vt:vector size="27" baseType="lpstr">
      <vt:lpstr>Arial</vt:lpstr>
      <vt:lpstr>Arial Unicode MS</vt:lpstr>
      <vt:lpstr>Calibri</vt:lpstr>
      <vt:lpstr>Calibri Light</vt:lpstr>
      <vt:lpstr>Тема Office</vt:lpstr>
      <vt:lpstr>Наследование в Python</vt:lpstr>
      <vt:lpstr>Что мы сегодня узнаем?</vt:lpstr>
      <vt:lpstr>Проблема: Повторяющийся код 😫</vt:lpstr>
      <vt:lpstr>Решение: Наследование! 💡</vt:lpstr>
      <vt:lpstr>Презентация PowerPoint</vt:lpstr>
      <vt:lpstr>Наследование внешности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Ключевые понятия 🔑</vt:lpstr>
      <vt:lpstr>Переопределение методов</vt:lpstr>
      <vt:lpstr>Функция super(): Не заменяй, а дополняй!</vt:lpstr>
      <vt:lpstr>Задание 1 </vt:lpstr>
      <vt:lpstr>Презентация PowerPoint</vt:lpstr>
      <vt:lpstr>🎯 Задачи студентов</vt:lpstr>
      <vt:lpstr>Вывод</vt:lpstr>
      <vt:lpstr>Задание 2</vt:lpstr>
      <vt:lpstr>🎯 Задачи студентов</vt:lpstr>
      <vt:lpstr>Вывод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kamiljanow didar</dc:creator>
  <cp:lastModifiedBy>kamiljanow didar</cp:lastModifiedBy>
  <cp:revision>5</cp:revision>
  <dcterms:created xsi:type="dcterms:W3CDTF">2025-09-18T11:05:49Z</dcterms:created>
  <dcterms:modified xsi:type="dcterms:W3CDTF">2025-09-18T13:33:10Z</dcterms:modified>
</cp:coreProperties>
</file>